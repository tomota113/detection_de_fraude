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11" Type="http://schemas.openxmlformats.org/officeDocument/2006/relationships/image" Target="../media/image13.png"/><Relationship Id="rId10" Type="http://schemas.openxmlformats.org/officeDocument/2006/relationships/image" Target="../media/image10.png"/><Relationship Id="rId12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2" Type="http://schemas.openxmlformats.org/officeDocument/2006/relationships/image" Target="../media/image20.png"/><Relationship Id="rId9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4.png"/><Relationship Id="rId5" Type="http://schemas.openxmlformats.org/officeDocument/2006/relationships/image" Target="../media/image24.png"/><Relationship Id="rId6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Relationship Id="rId8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35.png"/><Relationship Id="rId5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5" Type="http://schemas.openxmlformats.org/officeDocument/2006/relationships/image" Target="../media/image46.png"/><Relationship Id="rId6" Type="http://schemas.openxmlformats.org/officeDocument/2006/relationships/image" Target="../media/image38.png"/><Relationship Id="rId7" Type="http://schemas.openxmlformats.org/officeDocument/2006/relationships/image" Target="../media/image47.png"/><Relationship Id="rId8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630138"/>
            <a:ext cx="5550693" cy="2681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Transformer les pertes énergétiques en </a:t>
            </a: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revenus</a:t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857250" y="3502521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problème mondial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Des milliards évaporés dans la fraude électrique chaque année.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57250" y="4410967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solution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L'Intelligence Artificielle pour stopper l'hémorragie.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57250" y="5319414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Notre mission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Sécuriser les revenus des distributeurs d'électricité.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3502521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4410967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5319414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02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52500" y="2095500"/>
            <a:ext cx="49053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 millions de dollars perdus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Les "Pertes Non-Techniques" coûtent une fortune à chaque opérateur, chaque année.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295650"/>
            <a:ext cx="49053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 cause principale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 vol pur et simple et la manipulation frauduleuse des compteurs par les utilisateurs.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4495800"/>
            <a:ext cx="49053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Conséquence directe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Une perte sèche qui ampute violemment la marge nette de l'entreprise.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24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242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243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L'Hémorragie Financière Silencieuse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8375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8375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8375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289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66775" y="34766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Stratégie Aléatoire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39433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Les opérateurs envoient des armées d'inspecteurs sur le terrain en se basant uniquement sur l'intuition ou le hasard.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289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645074" y="34766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Coûts Exorbitants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45074" y="39433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Flotte de véhicules, salaires, logistique : on dépense une fortune pour envoyer des équipes frapper aux mauvaises portes.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289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423374" y="34766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Succès Dérisoire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23374" y="39433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taux de réussite est infime. C'est l'équivalent de chercher une aiguille dans une immense botte de foin.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278130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78424" y="278130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75774" y="27813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 Inspections à l'Aveugle : Un Gouffre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1767185"/>
            <a:ext cx="555069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 Précision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Chirurgicale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57250" y="2700635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 logiciel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prédictif intelligent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3273921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Cible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exactement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les compteurs suspects avant toute inspection sur le terrain.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4182367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Transforme vos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données dormantes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 actions rentables immédiates.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270063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3273921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4182367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5975"/>
            <a:ext cx="349254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85975"/>
            <a:ext cx="349254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85975"/>
            <a:ext cx="349254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76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66775" y="33242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Zéro Matériel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66775" y="37909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Nous utilisons l'historique de vos factures existantes. Aucun besoin d'investir dans des compteurs intelligents coûteux.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476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4645074" y="33242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Détection par l'IA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645074" y="37909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Notre moteur prédictif analyse les données et repère automatiquement les schémas et comportements de consommation illogiques.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476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8423374" y="33242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Action Immédiate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423374" y="37909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système génère des listes de contrôle ultra-qualifiées, prêtes à être utilisées par les inspecteurs dès le lendemain.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8225" y="262890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97474" y="26289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75774" y="26289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Intelligence Sans Équipement Supplémentaire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8375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8375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8375"/>
            <a:ext cx="3492549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1517600" y="283845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4,5M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297572" y="3667125"/>
            <a:ext cx="2040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Factures Analysées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66775" y="40386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Une échelle massive de données historiques épluchées par notre système en Tunisie.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424487" y="2838450"/>
            <a:ext cx="13430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135k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280898" y="3667125"/>
            <a:ext cx="16302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Clients Audités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645074" y="40386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Testé et validé en conditions réelles sur le terrain avec les équipes de l'opérateur.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126587" y="2628900"/>
            <a:ext cx="14954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72%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884175" y="3571875"/>
            <a:ext cx="19802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Fraudes Détectées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423374" y="39433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Notre système a trouvé avec succès près de 3 quarts des fraudes qui étaient jusqu'alors invisibles.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Éprouvé sur le Terrain : </a:t>
            </a:r>
            <a:r>
              <a:rPr b="1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Le Cas STEG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02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952500" y="2095500"/>
            <a:ext cx="49053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Baisse drastique des OPEX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Arrêt immédiat des tournées d'inspection inutiles et coûteuses.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52500" y="3295650"/>
            <a:ext cx="49053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Récupération massive de cash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Facturation immédiate des impayés identifiés et des pénalités applicables.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52500" y="4495800"/>
            <a:ext cx="49053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ROI fulgurant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 logiciel s'autofinance et génère du profit dès la première campagne de contrôle ciblée.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240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24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243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Une Rentabilité </a:t>
            </a:r>
            <a:r>
              <a:rPr b="1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Immédiate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et Mesurable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02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952500" y="2095500"/>
            <a:ext cx="49053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 outil "Plug &amp; Play"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Interface intuitive conçue spécifiquement pour les chefs de secteur, sans formation complexe.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52500" y="3295650"/>
            <a:ext cx="49053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Liste des "Top Suspects"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Chaque matin, le tableau de bord affiche les compteurs prioritaires à contrôler d'urgence.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52500" y="4495800"/>
            <a:ext cx="49053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Optimisation automatique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 système génère le trajet optimal pour les équipes terrain afin de maximiser leur temps.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240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24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243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Déployable Demain : Votre Outil de Pilotage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571500" y="1323379"/>
            <a:ext cx="555069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 Potentiel de Déploiement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Massif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857250" y="2809279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douleur universelle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: Le vol d'électricité touche la quasi-totalité des distributeurs émergents.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57250" y="3717726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Modèle hautement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scalable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: Notre logiciel est adaptable à n'importe quelle base de données.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57250" y="4626173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Cible prioritaire : Les distributeurs nationaux d'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Afrique de l'Ouest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et au-delà.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571500" y="2809279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3717726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4626173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295275" y="1135558"/>
            <a:ext cx="1160145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Sécurisons l'Avenir de l'Énergie </a:t>
            </a: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Ensemble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571500" y="305960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La technologie est validée. Le marché est demandeur.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2286000" y="361577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Notre objectif actuel : Accélérer notre force de frappe commerciale et dominer le marché Ouest-Africain. Discutons de votre participation stratégique.</a:t>
            </a:r>
            <a:endParaRPr/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625" y="531286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5312866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571500" y="150495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71500" y="228972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71500" y="30744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71500" y="38592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464403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1500" y="22801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1500" y="22801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571500" y="30649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71500" y="30649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3849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3849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71500" y="46345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71500" y="46345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1500" y="54192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54192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543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1666875" y="164782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https://png.pngtree.com/thumb_back/fh260/background/20251102/pngtree-glowing-growth-chart-graph-stock-market-increasing-business-upward-trend-image_20196191.webp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666875" y="189354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391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1666875" y="243259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https://cdn.prod.website-files.com/63e15418201b6e2a5cabb911/6740f2a5aba2c19a1c82ccb1_640904bcb8c50c40222aeb12_Apple%2520airpods.jpeg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666875" y="267831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www.lumafield.com</a:t>
            </a:r>
            <a:endParaRPr/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239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666875" y="32173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https://qqpets.com/wp-content/uploads/2025/08/3_compressed-1024x1024.webp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666875" y="346308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qqpets.com</a:t>
            </a:r>
            <a:endParaRPr/>
          </a:p>
        </p:txBody>
      </p:sp>
      <p:pic>
        <p:nvPicPr>
          <p:cNvPr descr="image.png" id="260" name="Google Shape;26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086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1666875" y="40021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https://png.pngtree.com/png-vector/20251028/ourlarge/pngtree-cartoon-financial-analyst-reviewing-profit-charts-on-glowing-digital-dashboard-png-image_17846000.webp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666875" y="42478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934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1666875" y="478690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http://purespadirect.com/cdn/shop/articles/how-to-properly-sanitize-your-waxing-suite-to-meet-and-exceed-state-regulations_20260209011501_20260209-ai.jpg?v=1780948209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666875" y="50326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purespadirect.com</a:t>
            </a:r>
            <a:endParaRPr/>
          </a:p>
        </p:txBody>
      </p:sp>
      <p:pic>
        <p:nvPicPr>
          <p:cNvPr descr="image.png" id="266" name="Google Shape;26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5782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1666875" y="557167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https://images.splitshire.com/full/Futuristic-Data-World-Map-AI-Concept_a9afbc.png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666875" y="581739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www.splitshire.com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