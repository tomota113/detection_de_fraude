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11" Type="http://schemas.openxmlformats.org/officeDocument/2006/relationships/image" Target="../media/image5.png"/><Relationship Id="rId10" Type="http://schemas.openxmlformats.org/officeDocument/2006/relationships/image" Target="../media/image14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2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632769"/>
            <a:ext cx="90011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Détection de </a:t>
            </a:r>
            <a:r>
              <a:rPr b="0" i="0" lang="en-US" sz="4800" u="none" cap="none" strike="noStrike">
                <a:solidFill>
                  <a:srgbClr val="00E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Fraude</a:t>
            </a:r>
            <a:r>
              <a:rPr b="0" i="0" lang="en-US" sz="4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par l'IA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493740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Optimisation des inspections terrain et réduction radicale des Pertes Non-Techniques (PNT)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9192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L'impact de la Fraude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00125" y="2462212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Manque à gagner majeur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Les manipulations et raccordements illicites fragilisent notre rentabilité financière.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00125" y="3614737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Limites opérationnelles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Les inspections terrain aléatoires génèrent des coûts élevés pour un faible retour sur investissement.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4767262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Nécessité de transition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Passer d'un ciblage empirique à une détection intelligente par l'analyse algorithmique.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28812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66750" y="2481262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" y="3633787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" y="4786312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Défi des PNT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6619"/>
            <a:ext cx="5286375" cy="2611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56619"/>
            <a:ext cx="5286375" cy="261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343275" y="2270819"/>
            <a:ext cx="5505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Base de données : Dataset STEG avec </a:t>
            </a: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135 493 clients réels</a:t>
            </a:r>
            <a:r>
              <a:rPr b="0" i="0" lang="en-US" sz="15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62025" y="3347144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4.5M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4299644"/>
            <a:ext cx="4505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Factures Historiques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4690169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Un volume massif permettant de modéliser l'historique complet de consommation.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3347144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5.58%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4299644"/>
            <a:ext cx="4505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Taux de Fraudeurs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4690169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Déséquilibre extrême de la classe cible : le défi principal pour l'algorithme.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Données &amp; Déséquilibre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0487"/>
            <a:ext cx="11049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10733" y="2540496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Ingestion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997696"/>
            <a:ext cx="24306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Nettoyage automatisé des factures aberrantes (erreurs de saisie).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383413" y="4491037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Ingénierie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444180" y="4948237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Création de 30+ variables clés (Feature Engineering).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56094" y="2784276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Modélisation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16860" y="3241476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Entraînement avec validation croisée 5-Fold stratifiée.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128774" y="4491037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Déploiement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89541" y="4948237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Génération d'un score probabiliste de fraude par client.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du Pipeline ML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672530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A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545210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A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417891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A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0290571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5FF"/>
          </a:solidFill>
          <a:ln cap="flat" cmpd="sng" w="38100">
            <a:solidFill>
              <a:srgbClr val="0A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1063"/>
            <a:ext cx="3492549" cy="3676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1063"/>
            <a:ext cx="3492549" cy="3676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1063"/>
            <a:ext cx="3492549" cy="3676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734371"/>
            <a:ext cx="2901999" cy="6331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94225" y="3271688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Volatilité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66775" y="3814613"/>
            <a:ext cx="2901999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Mesure de l'irrégularité via le Coefficient de Variation (CV) mensuel.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572524" y="3271688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Tendances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45074" y="3814613"/>
            <a:ext cx="2901999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Détection des baisses brutales : régression linéaire sur 3 ans et chutes de consommation &gt; 50%.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350824" y="3271688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Anomalies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3374" y="3814613"/>
            <a:ext cx="2901999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Ratio excessif de facturation au "Palier 1" et anomalies d'index physiques remontées par les agents.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9100" y="25192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04578" y="4924871"/>
            <a:ext cx="464492" cy="252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8825" y="2519213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17124" y="251921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Feature Engineering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381750" y="19431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94.5% de clients intègres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81750" y="24860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L'algorithme naturel a tendance à prédire "Non-Fraudeur" par défaut. L'IA doit être calibrée pour trouver l'anomalie.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28812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810375" y="35909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AA00"/>
                </a:solidFill>
                <a:latin typeface="Inter"/>
                <a:ea typeface="Inter"/>
                <a:cs typeface="Inter"/>
                <a:sym typeface="Inter"/>
              </a:rPr>
              <a:t>Pénalisation asymétrique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Utilisation du paramètre </a:t>
            </a:r>
            <a:r>
              <a:rPr b="0" i="0" lang="en-US" sz="1500" u="none" cap="none" strike="noStrike">
                <a:solidFill>
                  <a:srgbClr val="FFAA00"/>
                </a:solidFill>
                <a:latin typeface="Inter"/>
                <a:ea typeface="Inter"/>
                <a:cs typeface="Inter"/>
                <a:sym typeface="Inter"/>
              </a:rPr>
              <a:t>scale_pos_weight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pour donner un poids mathématique supérieur aux fraudes.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810375" y="4743450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AA00"/>
                </a:solidFill>
                <a:latin typeface="Inter"/>
                <a:ea typeface="Inter"/>
                <a:cs typeface="Inter"/>
                <a:sym typeface="Inter"/>
              </a:rPr>
              <a:t>Validation Rigoureuse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Évaluation via </a:t>
            </a:r>
            <a:r>
              <a:rPr b="0" i="1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5-Fold Stratified Cross Validation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pour s'assurer que le modèle ne sur-apprend pas.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477000" y="3609975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477000" y="4762500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Gérer le Déséquilibre Extrême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71500" y="48768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Le choix s'est porté sur </a:t>
            </a:r>
            <a:r>
              <a:rPr b="1" i="1" lang="en-US" sz="15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LightGBM</a:t>
            </a:r>
            <a:r>
              <a:rPr b="0" i="1" lang="en-US" sz="15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pour sa supériorité sur la métrique PR-AUC, spécialement adaptée pour la détection de classes fortement minoritaires (fraudes).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Comparaison des Modèles ML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3719"/>
            <a:ext cx="5286375" cy="2611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13719"/>
            <a:ext cx="5286375" cy="261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962025" y="3004244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0.85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62025" y="3956744"/>
            <a:ext cx="4505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ROC - AUC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62025" y="4347269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Excellente capacité du modèle à séparer mathématiquement les clients honnêtes des fraudeurs.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724650" y="3004244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72%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724650" y="3956744"/>
            <a:ext cx="4505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Taux de Détection (Recall)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724650" y="4347269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Près de 3 fraudes sur 4 sont repérées automatiquement par l'intelligence artificielle.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Performances &amp; Taux de Détection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167163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Du Score à l'Action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221456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Le modèle génère une probabilité continue de 0 à 100%.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000125" y="2709862"/>
            <a:ext cx="4810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Seuil Adaptatif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Le seuil d'alerte s'ajuste dynamiquement en fonction de la capacité d'inspection de vos équipes (ex: Top 5% des risques).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000125" y="4167187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Augmentation du Hit-Rate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Les contrôleurs ne se déplacent plus "à l'aveugle", maximisant le ratio de fraudes confirmées.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000125" y="5319712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Optimisation OPEX 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Baisse drastique des coûts logistiques d'inspection.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28812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66750" y="2728912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66750" y="4186237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66750" y="5338762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Optimisation &amp; Ciblage Terrain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62000" y="571500"/>
            <a:ext cx="50006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Transposabilité en Afrique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265747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Proof of Concept (PoC) Scalable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32480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La méthodologie développée sur les compteurs STEG repose sur des logiques de facturation universelles aux </a:t>
            </a:r>
            <a:r>
              <a:rPr b="0" i="1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Utilities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31482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L'architecture du code, encapsulée en Python, permet un </a:t>
            </a:r>
            <a:r>
              <a:rPr b="1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déploiement rapide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sur les bases de données d'autres réseaux électriques d'Afrique de l'Ouest, avec un ré-entraînement minimal.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316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3162"/>
            <a:ext cx="3492549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794225" y="3633787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Modèles Temporels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66775" y="409098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Intégration d'architectures </a:t>
            </a:r>
            <a:r>
              <a:rPr b="0" i="1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Deep Learning (RNN/LSTM)</a:t>
            </a:r>
            <a:r>
              <a:rPr b="0" i="0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pour analyser des séries chronologiques granulaires de compteurs communicants (Smart Meters).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4572524" y="3633787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Explicabilité (SHAP)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4645074" y="409098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Déchiffrer la "boîte noire" : fournir aux inspecteurs terrain les 3 raisons précises pour lesquelles le modèle suspecte une fraude sur un point de livraison.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8350824" y="3633787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Tableau de Bord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423374" y="409098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Développement d'une interface web sécurisée via </a:t>
            </a:r>
            <a:r>
              <a:rPr b="0" i="1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b="0" i="0" lang="en-US" sz="112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pour permettre aux directeurs d'agence de visualiser et d'exporter leurs listes d'inspections.</a:t>
            </a:r>
            <a:endParaRPr/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288131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Perspectives d'Évolution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0925" y="4164210"/>
            <a:ext cx="50101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3465671" y="2198340"/>
            <a:ext cx="526065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Questions ?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3590925" y="3227040"/>
            <a:ext cx="5010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Merci pour votre attention et votre implication.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28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571500" y="205754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2842319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82518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28327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28327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815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815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7985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7985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697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22004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https://londianglobal.com/wp-content/uploads/2025/03/%E5%B9%BB%E7%81%AF%E7%89%8733.jpg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244613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londianglobal.com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90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298519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https://png.pngtree.com/png-vector/20260225/ourmid/pngtree-futuristic-digital-scale-with-glowing-blue-circuitry-and-green-accents-balancing-png-image_18801841.webp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34290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37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396805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https://www.zebra.com/content/dam/zebra_dam/global/zcom-web-production/web-production-photography/web005/utilities-photography-website-technician-et8x-control-panel-16x9-3600px.jpg.imgo.jpg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44118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www.zebra.com</a:t>
            </a:r>
            <a:endParaRPr/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565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495091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https://media.istockphoto.com/id/1212563353/photo/power-lines-and-sunset-landscape.jpg?s=612x612&amp;w=0&amp;k=20&amp;c=YkrAESrEK9Geq6lks1xyekvng4EudCAh-q8zRiSnyzM=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53947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